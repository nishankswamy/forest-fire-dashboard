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Ground-based fire detection. Six Pis, LoRa radio, multi-hop. The two things I want to land today: collisions and routing dead ends are eliminated by construction, not by retrying.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approaches. Ground sensing wins on latency but loses on communication — no cell, no mains. LoRa solves it: kilometres of range at battery power, in exchange for a data rate that would be useless for anything except sensor readings.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objectives. Three and four are the interesting ones — note the wording: impossible, not unlikely. That distinction drives every design choice that follows.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clusters. Members report to their head, heads forward to the gateway. CH-B is deliberately out of gateway range — that is what makes the relay real rather than decorative. Node 5 takes three hops.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Bill of materials on the left. On the right, four constraints that each cost time to discover. The 5 V into 3.3 V one destroys hardware if missed.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of the project. Note the framing on both: not "we retry until it works" but "the failure cannot occur". That is a stronger claim and it is the one I can defend.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hidden terminal pair is the whole argument. If asked why not CSMA — node 2 and CH-B are mutually deaf but both heard by CH-A. Carrier sense is blind to exactly the case that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slots, twenty seconds of activity, forty asleep. If asked why the beacon needs relaying: cluster B cannot hear the gateway, so it cannot hear the gateway’s clock either. Sync follows the data tree.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numbers from the 50-node simulator. N-03 at 714 m, every neighbour farther. The working route starts by going 311 m backwards, which greedy cannot do by definition.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why the two halves of the project use contradictory techniques — this slide is the answer. It is not inconsistency, it is the finding. Contention and greedy routing are correct at scale and actively harmful at six nodes.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strongest negative result. The radio is 1.2% of node power, so TDMA sleep — the centre of this project — is worth 4%. If asked whether that invalidates the work: no, it relocates it. The networking contribution stands; the energy claim has to be about the whole node.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failure modes and the response to each. The halt auto-expiry is worth calling out as a safety property — a latched stop that someone forgets to clear is worse than the problem it solves.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strongest slide in the deck. Most projects claim testing; this shows testing that found something. Be ready to walk through the falsy-zero bug in detail — it is the most instructive.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 numbers. Point at the footer: these are reproducible from the repo, not copied from a notebook. If asked about the partition case — that is correct behaviour, not a failure. CH-B can only hear CH-A and node 5, so when CH-A dies cluster B is physically cut off. Buffering is the right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running order. Have the dashboard already open before starting. The failover and the halt are the two that always land — they are visibly dynamic rather than static screenshots.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two claims. Then invite questions — the areas I expect are why TDMA over CSMA, why the two halves differ, and whether the simulator results transfer to hardware. Honest answer to the last one: they verify logic, not radio behaviour.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914400"/>
            <a:ext cx="274320" cy="274320"/>
          </a:xfrm>
          <a:prstGeom prst="ellipse">
            <a:avLst/>
          </a:prstGeom>
          <a:solidFill>
            <a:srgbClr val="6FA07A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1371600"/>
            <a:ext cx="182880" cy="182880"/>
          </a:xfrm>
          <a:prstGeom prst="ellipse">
            <a:avLst/>
          </a:prstGeom>
          <a:solidFill>
            <a:srgbClr val="6FA07A"/>
          </a:solidFill>
          <a:ln/>
        </p:spPr>
      </p:sp>
      <p:sp>
        <p:nvSpPr>
          <p:cNvPr id="4" name="Shape 2"/>
          <p:cNvSpPr/>
          <p:nvPr/>
        </p:nvSpPr>
        <p:spPr>
          <a:xfrm>
            <a:off x="11338560" y="1005840"/>
            <a:ext cx="182880" cy="182880"/>
          </a:xfrm>
          <a:prstGeom prst="ellipse">
            <a:avLst/>
          </a:prstGeom>
          <a:solidFill>
            <a:srgbClr val="6FA07A"/>
          </a:solidFill>
          <a:ln/>
        </p:spPr>
      </p:sp>
      <p:sp>
        <p:nvSpPr>
          <p:cNvPr id="5" name="Shape 3"/>
          <p:cNvSpPr/>
          <p:nvPr/>
        </p:nvSpPr>
        <p:spPr>
          <a:xfrm>
            <a:off x="9875520" y="2103120"/>
            <a:ext cx="274320" cy="274320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0" y="2377440"/>
            <a:ext cx="182880" cy="182880"/>
          </a:xfrm>
          <a:prstGeom prst="ellipse">
            <a:avLst/>
          </a:prstGeom>
          <a:solidFill>
            <a:srgbClr val="6FA07A"/>
          </a:solidFill>
          <a:ln/>
        </p:spPr>
      </p:sp>
      <p:sp>
        <p:nvSpPr>
          <p:cNvPr id="7" name="Shape 5"/>
          <p:cNvSpPr/>
          <p:nvPr/>
        </p:nvSpPr>
        <p:spPr>
          <a:xfrm>
            <a:off x="10241280" y="3108960"/>
            <a:ext cx="182880" cy="182880"/>
          </a:xfrm>
          <a:prstGeom prst="ellipse">
            <a:avLst/>
          </a:prstGeom>
          <a:solidFill>
            <a:srgbClr val="6FA07A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0" y="3566160"/>
            <a:ext cx="274320" cy="274320"/>
          </a:xfrm>
          <a:prstGeom prst="ellipse">
            <a:avLst/>
          </a:prstGeom>
          <a:solidFill>
            <a:srgbClr val="6FA07A"/>
          </a:solidFill>
          <a:ln/>
        </p:spPr>
      </p:sp>
      <p:sp>
        <p:nvSpPr>
          <p:cNvPr id="9" name="Shape 7"/>
          <p:cNvSpPr/>
          <p:nvPr/>
        </p:nvSpPr>
        <p:spPr>
          <a:xfrm>
            <a:off x="9436608" y="1024128"/>
            <a:ext cx="1097280" cy="457200"/>
          </a:xfrm>
          <a:prstGeom prst="line">
            <a:avLst/>
          </a:prstGeom>
          <a:noFill/>
          <a:ln w="12700">
            <a:solidFill>
              <a:srgbClr val="6FA07A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33888" y="1481328"/>
            <a:ext cx="914400" cy="-365760"/>
          </a:xfrm>
          <a:prstGeom prst="line">
            <a:avLst/>
          </a:prstGeom>
          <a:noFill/>
          <a:ln w="12700">
            <a:solidFill>
              <a:srgbClr val="6FA07A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985248" y="2212848"/>
            <a:ext cx="548640" cy="-731520"/>
          </a:xfrm>
          <a:prstGeom prst="line">
            <a:avLst/>
          </a:prstGeom>
          <a:noFill/>
          <a:ln w="12700">
            <a:solidFill>
              <a:srgbClr val="6FA07A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985248" y="2212848"/>
            <a:ext cx="1097280" cy="274320"/>
          </a:xfrm>
          <a:prstGeom prst="line">
            <a:avLst/>
          </a:prstGeom>
          <a:noFill/>
          <a:ln w="12700">
            <a:solidFill>
              <a:srgbClr val="6FA07A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082528" y="2487168"/>
            <a:ext cx="-731520" cy="731520"/>
          </a:xfrm>
          <a:prstGeom prst="line">
            <a:avLst/>
          </a:prstGeom>
          <a:noFill/>
          <a:ln w="12700">
            <a:solidFill>
              <a:srgbClr val="6FA07A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51008" y="3218688"/>
            <a:ext cx="1280160" cy="457200"/>
          </a:xfrm>
          <a:prstGeom prst="line">
            <a:avLst/>
          </a:prstGeom>
          <a:noFill/>
          <a:ln w="12700">
            <a:solidFill>
              <a:srgbClr val="6FA07A">
                <a:alpha val="4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18745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Forest Fire Detection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777240" y="26974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9CC0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a LoRa Wireless Sensor Network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777240" y="3520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A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Raspberry Pi nodes · two-cluster multi-hop topology · TDMA scheduling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5074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Nishank Swamy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" y="54132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A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Project  · 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delay decides how much burns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13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spreads faster than it is found. Area affected grows roughly with the square of elapsed time in the early phase, so cutting detection from hours to minutes has a disproportionate effect on final size.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58521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E3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3118104"/>
            <a:ext cx="365760" cy="365760"/>
          </a:xfrm>
          <a:prstGeom prst="ellipse">
            <a:avLst/>
          </a:prstGeom>
          <a:solidFill>
            <a:srgbClr val="D6DED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118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E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298448" y="295351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thermal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298448" y="32461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coverage, but revisits a few times a day and cloud blocks it entirely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995928"/>
            <a:ext cx="58521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E3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4325112"/>
            <a:ext cx="365760" cy="365760"/>
          </a:xfrm>
          <a:prstGeom prst="ellipse">
            <a:avLst/>
          </a:prstGeom>
          <a:solidFill>
            <a:srgbClr val="D6DED8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325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E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298448" y="41605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Watchtower / camera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298448" y="445312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Continuous, but needs line of sight and only sees a plume once it clears the canopy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5202936"/>
            <a:ext cx="5852160" cy="1024128"/>
          </a:xfrm>
          <a:prstGeom prst="roundRect">
            <a:avLst>
              <a:gd name="adj" fmla="val 7143"/>
            </a:avLst>
          </a:prstGeom>
          <a:solidFill>
            <a:srgbClr val="E9F1EA"/>
          </a:solidFill>
          <a:ln w="12700">
            <a:solidFill>
              <a:srgbClr val="E2E8E3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5532120"/>
            <a:ext cx="365760" cy="365760"/>
          </a:xfrm>
          <a:prstGeom prst="ellipse">
            <a:avLst/>
          </a:prstGeom>
          <a:solidFill>
            <a:srgbClr val="6FA07A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532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298448" y="536752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sensors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298448" y="5660136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temperature rise, humidity collapse and combustion gas AT the origin — before a plume forms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766560" y="1325880"/>
            <a:ext cx="4846320" cy="5029200"/>
          </a:xfrm>
          <a:prstGeom prst="roundRect">
            <a:avLst>
              <a:gd name="adj" fmla="val 1509"/>
            </a:avLst>
          </a:prstGeom>
          <a:solidFill>
            <a:srgbClr val="1E4630"/>
          </a:solidFill>
          <a:ln w="12700">
            <a:solidFill>
              <a:srgbClr val="E2E8E3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32320" y="16459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CC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catch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132320" y="201168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Forest interiors have no cellular coverage and no mains power.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7132320" y="297180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CC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sensing only works if the communication problem is solved first. That is what this project is actually about.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132320" y="41605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86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 km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7132320" y="49103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E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range,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E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terrain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235440" y="41605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CC0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2.4 kbps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9235440" y="49103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E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rate at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E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range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132320" y="54406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6FA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low data rate for very long range — which suits telemetry, where a reading is a handful of bytes.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FA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system has to do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E3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28800"/>
            <a:ext cx="457200" cy="457200"/>
          </a:xfrm>
          <a:prstGeom prst="ellipse">
            <a:avLst/>
          </a:prstGeom>
          <a:solidFill>
            <a:srgbClr val="6FA07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63040" y="1591056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192024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Temperature, humidity and smoke at distributed points, with the fire decision made on the node itself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37160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E3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1828800"/>
            <a:ext cx="457200" cy="457200"/>
          </a:xfrm>
          <a:prstGeom prst="ellipse">
            <a:avLst/>
          </a:prstGeom>
          <a:solidFill>
            <a:srgbClr val="6FA07A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78040" y="1591056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78040" y="192024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to a gateway with no cellular or mains infrastructure — including from nodes out of gateway range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2944368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E3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401568"/>
            <a:ext cx="457200" cy="457200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401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463040" y="3163824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collide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3040" y="3493008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nodes share one radio channel. Packet collisions must be impossible, not merely unlikely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2944368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E3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3401568"/>
            <a:ext cx="457200" cy="457200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3401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78040" y="3163824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dead-end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78040" y="3493008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reading with a valid path to the gateway must not be lost to a routing dead end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517136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E3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" y="4974336"/>
            <a:ext cx="457200" cy="457200"/>
          </a:xfrm>
          <a:prstGeom prst="ellipse">
            <a:avLst/>
          </a:prstGeom>
          <a:solidFill>
            <a:srgbClr val="3E7CB1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974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463040" y="473659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 failure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463040" y="5065776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cluster head going down must not take its whole cluster off the map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63640" y="4517136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E3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37960" y="4974336"/>
            <a:ext cx="457200" cy="457200"/>
          </a:xfrm>
          <a:prstGeom prst="ellipse">
            <a:avLst/>
          </a:prstGeom>
          <a:solidFill>
            <a:srgbClr val="3E7CB1"/>
          </a:solidFill>
          <a:ln/>
        </p:spPr>
      </p:sp>
      <p:sp>
        <p:nvSpPr>
          <p:cNvPr id="31" name="Text 29"/>
          <p:cNvSpPr/>
          <p:nvPr/>
        </p:nvSpPr>
        <p:spPr>
          <a:xfrm>
            <a:off x="6537960" y="4974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178040" y="473659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on battery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178040" y="5065776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consumption low enough that battery operation is viable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FA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Pis, two clusters, three hops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371600" y="1965960"/>
            <a:ext cx="566928" cy="566928"/>
          </a:xfrm>
          <a:prstGeom prst="ellipse">
            <a:avLst/>
          </a:prstGeom>
          <a:solidFill>
            <a:srgbClr val="6FA07A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834640" y="1965960"/>
            <a:ext cx="566928" cy="566928"/>
          </a:xfrm>
          <a:prstGeom prst="ellipse">
            <a:avLst/>
          </a:prstGeom>
          <a:solidFill>
            <a:srgbClr val="6FA07A"/>
          </a:solidFill>
          <a:ln/>
        </p:spPr>
      </p:sp>
      <p:sp>
        <p:nvSpPr>
          <p:cNvPr id="7" name="Text 5"/>
          <p:cNvSpPr/>
          <p:nvPr/>
        </p:nvSpPr>
        <p:spPr>
          <a:xfrm>
            <a:off x="283464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57400" y="3429000"/>
            <a:ext cx="749808" cy="749808"/>
          </a:xfrm>
          <a:prstGeom prst="ellipse">
            <a:avLst/>
          </a:prstGeom>
          <a:solidFill>
            <a:srgbClr val="1E4630"/>
          </a:solidFill>
          <a:ln/>
        </p:spPr>
      </p:sp>
      <p:sp>
        <p:nvSpPr>
          <p:cNvPr id="9" name="Text 7"/>
          <p:cNvSpPr/>
          <p:nvPr/>
        </p:nvSpPr>
        <p:spPr>
          <a:xfrm>
            <a:off x="2057400" y="342900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49440" y="3429000"/>
            <a:ext cx="749808" cy="749808"/>
          </a:xfrm>
          <a:prstGeom prst="ellipse">
            <a:avLst/>
          </a:prstGeom>
          <a:solidFill>
            <a:srgbClr val="1E4630"/>
          </a:solidFill>
          <a:ln/>
        </p:spPr>
      </p:sp>
      <p:sp>
        <p:nvSpPr>
          <p:cNvPr id="11" name="Text 9"/>
          <p:cNvSpPr/>
          <p:nvPr/>
        </p:nvSpPr>
        <p:spPr>
          <a:xfrm>
            <a:off x="6949440" y="342900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CH-B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0" y="1965960"/>
            <a:ext cx="566928" cy="566928"/>
          </a:xfrm>
          <a:prstGeom prst="ellipse">
            <a:avLst/>
          </a:prstGeom>
          <a:solidFill>
            <a:srgbClr val="6FA07A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691640" y="5029200"/>
            <a:ext cx="1463040" cy="658368"/>
          </a:xfrm>
          <a:prstGeom prst="roundRect">
            <a:avLst>
              <a:gd name="adj" fmla="val 13889"/>
            </a:avLst>
          </a:prstGeom>
          <a:solidFill>
            <a:srgbClr val="E8622C"/>
          </a:solidFill>
          <a:ln/>
        </p:spPr>
      </p:sp>
      <p:sp>
        <p:nvSpPr>
          <p:cNvPr id="15" name="Text 13"/>
          <p:cNvSpPr/>
          <p:nvPr/>
        </p:nvSpPr>
        <p:spPr>
          <a:xfrm>
            <a:off x="1691640" y="502920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655064" y="2532888"/>
            <a:ext cx="585216" cy="896112"/>
          </a:xfrm>
          <a:prstGeom prst="line">
            <a:avLst/>
          </a:prstGeom>
          <a:noFill/>
          <a:ln w="19050">
            <a:solidFill>
              <a:srgbClr val="6E7D71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 flipH="1">
            <a:off x="2624328" y="2532888"/>
            <a:ext cx="493776" cy="896112"/>
          </a:xfrm>
          <a:prstGeom prst="line">
            <a:avLst/>
          </a:prstGeom>
          <a:noFill/>
          <a:ln w="19050">
            <a:solidFill>
              <a:srgbClr val="6E7D71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 flipH="1">
            <a:off x="7516368" y="2532888"/>
            <a:ext cx="1453896" cy="896112"/>
          </a:xfrm>
          <a:prstGeom prst="line">
            <a:avLst/>
          </a:prstGeom>
          <a:noFill/>
          <a:ln w="19050">
            <a:solidFill>
              <a:srgbClr val="6E7D71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 flipH="1">
            <a:off x="2807208" y="3803904"/>
            <a:ext cx="4142232" cy="0"/>
          </a:xfrm>
          <a:prstGeom prst="line">
            <a:avLst/>
          </a:prstGeom>
          <a:noFill/>
          <a:ln w="31750">
            <a:solidFill>
              <a:srgbClr val="3E7CB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32304" y="4178808"/>
            <a:ext cx="0" cy="850392"/>
          </a:xfrm>
          <a:prstGeom prst="line">
            <a:avLst/>
          </a:prstGeom>
          <a:noFill/>
          <a:ln w="31750">
            <a:solidFill>
              <a:srgbClr val="3E7CB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0" y="3383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 CH-B → CH-A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188720" y="14813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E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A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863840" y="14813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E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B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275320" y="3017520"/>
            <a:ext cx="3337560" cy="2834640"/>
          </a:xfrm>
          <a:prstGeom prst="roundRect">
            <a:avLst>
              <a:gd name="adj" fmla="val 2581"/>
            </a:avLst>
          </a:prstGeom>
          <a:solidFill>
            <a:srgbClr val="1E4630"/>
          </a:solidFill>
          <a:ln w="12700">
            <a:solidFill>
              <a:srgbClr val="E2E8E3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549640" y="324612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CH-B sits outside gateway range on purpose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549640" y="411480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CC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it, head-to-head forwarding would never be exercised and the multi-hop capability would go untested. Node 5 reaches the gateway in three hops: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549640" y="523036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→  CH-B  →  CH-A  →  GW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FA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node, and the traps in it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5778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E3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4538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7373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gateway, 2 heads, 3 nodes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0" y="15544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FA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6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212848"/>
            <a:ext cx="55778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E3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22951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SX1262 868M LoRa HAT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5786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UART, private point-to-point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0" y="239572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FA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6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054096"/>
            <a:ext cx="55778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E3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31363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DHT22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34198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+ humidity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0" y="3236976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FA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5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3895344"/>
            <a:ext cx="55778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E3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3977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MQ-2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426110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/ combustible gas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0" y="4078224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FA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5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4736592"/>
            <a:ext cx="55778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E3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2960" y="48188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MCP3008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51023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over SPI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0" y="491947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FA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5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92240" y="1371600"/>
            <a:ext cx="51206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E3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720840" y="1700784"/>
            <a:ext cx="347472" cy="347472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26" name="Text 24"/>
          <p:cNvSpPr/>
          <p:nvPr/>
        </p:nvSpPr>
        <p:spPr>
          <a:xfrm>
            <a:off x="6720840" y="1700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205472" y="149961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 has no analogue input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205472" y="179222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MQ-2’s analogue output cannot be read directly — hence the MCP3008 over SPI.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92240" y="2542032"/>
            <a:ext cx="51206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E3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720840" y="2871216"/>
            <a:ext cx="347472" cy="347472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31" name="Text 29"/>
          <p:cNvSpPr/>
          <p:nvPr/>
        </p:nvSpPr>
        <p:spPr>
          <a:xfrm>
            <a:off x="6720840" y="2871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205472" y="26700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 sensor into a 3.3 V ADC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205472" y="2962656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MQ-2 runs on 5 V and its output can exceed 3.3 V, which would destroy the MCP3008. A divider is mandatory.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92240" y="3712464"/>
            <a:ext cx="51206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E3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720840" y="4041648"/>
            <a:ext cx="347472" cy="347472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36" name="Text 34"/>
          <p:cNvSpPr/>
          <p:nvPr/>
        </p:nvSpPr>
        <p:spPr>
          <a:xfrm>
            <a:off x="6720840" y="40416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205472" y="38404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Jumper caps must come off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205472" y="413308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HAT’s mode pins read HIGH when uncapped. With caps fitted the Pi cannot control radio power at all.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492240" y="4882896"/>
            <a:ext cx="51206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E3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720840" y="5212080"/>
            <a:ext cx="347472" cy="347472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41" name="Text 39"/>
          <p:cNvSpPr/>
          <p:nvPr/>
        </p:nvSpPr>
        <p:spPr>
          <a:xfrm>
            <a:off x="6720840" y="5212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205472" y="501091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866 MHz, not 868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7205472" y="53035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licenses 865–867 MHz. 868 is the European band — the module is tunable, the marketing name is not the channel.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9CC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HARD PROBLEMS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solved by construction, not by retry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349240" cy="4709160"/>
          </a:xfrm>
          <a:prstGeom prst="roundRect">
            <a:avLst>
              <a:gd name="adj" fmla="val 1553"/>
            </a:avLst>
          </a:prstGeom>
          <a:solidFill>
            <a:srgbClr val="1E4630"/>
          </a:solidFill>
          <a:ln w="12700">
            <a:solidFill>
              <a:srgbClr val="E2E8E3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24128" y="1691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6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Collisions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24128" y="22402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6FA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24128" y="2487168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nodes, one channel. Two transmissions overlapping in time corrupt each other.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3611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6FA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ANSWER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24128" y="385876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TDMA superframe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024128" y="43434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CC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transmission occupies a slot owned by exactly one radio. Overlap is structurally impossible.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024128" y="5440680"/>
            <a:ext cx="384048" cy="384048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12" name="Text 10"/>
          <p:cNvSpPr/>
          <p:nvPr/>
        </p:nvSpPr>
        <p:spPr>
          <a:xfrm>
            <a:off x="1024128" y="5440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554480" y="550468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collisions in 184 transmissions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1417320"/>
            <a:ext cx="5349240" cy="4709160"/>
          </a:xfrm>
          <a:prstGeom prst="roundRect">
            <a:avLst>
              <a:gd name="adj" fmla="val 1553"/>
            </a:avLst>
          </a:prstGeom>
          <a:solidFill>
            <a:srgbClr val="1E4630"/>
          </a:solidFill>
          <a:ln w="12700">
            <a:solidFill>
              <a:srgbClr val="E2E8E3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47688" y="1691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E7C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minima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647688" y="22402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6FA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647688" y="2487168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geographic routing stalls where no neighbour is closer to the sink — even when a path exists.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47688" y="3611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6FA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ANSWER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647688" y="385876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Explicit routing tables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647688" y="43434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CC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geometric decision is made, so there is no minimum to reach. Ordered fallbacks repair broken links.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647688" y="5440680"/>
            <a:ext cx="384048" cy="384048"/>
          </a:xfrm>
          <a:prstGeom prst="ellipse">
            <a:avLst/>
          </a:prstGeom>
          <a:solidFill>
            <a:srgbClr val="3E7CB1"/>
          </a:solidFill>
          <a:ln/>
        </p:spPr>
      </p:sp>
      <p:sp>
        <p:nvSpPr>
          <p:cNvPr id="22" name="Text 20"/>
          <p:cNvSpPr/>
          <p:nvPr/>
        </p:nvSpPr>
        <p:spPr>
          <a:xfrm>
            <a:off x="6647688" y="5440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178040" y="550468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arise — proven by design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 1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TDMA and not carrier sense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E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CSMA would not have worked here — and the reason is specific, not general.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67665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E3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2926080"/>
            <a:ext cx="548640" cy="548640"/>
          </a:xfrm>
          <a:prstGeom prst="ellipse">
            <a:avLst/>
          </a:prstGeom>
          <a:solidFill>
            <a:srgbClr val="6FA07A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20440" y="2926080"/>
            <a:ext cx="685800" cy="685800"/>
          </a:xfrm>
          <a:prstGeom prst="ellipse">
            <a:avLst/>
          </a:prstGeom>
          <a:solidFill>
            <a:srgbClr val="1E4630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926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2926080"/>
            <a:ext cx="548640" cy="548640"/>
          </a:xfrm>
          <a:prstGeom prst="ellipse">
            <a:avLst/>
          </a:prstGeom>
          <a:solidFill>
            <a:srgbClr val="6FA07A"/>
          </a:solidFill>
          <a:ln/>
        </p:spPr>
      </p:sp>
      <p:sp>
        <p:nvSpPr>
          <p:cNvPr id="11" name="Text 9"/>
          <p:cNvSpPr/>
          <p:nvPr/>
        </p:nvSpPr>
        <p:spPr>
          <a:xfrm>
            <a:off x="617220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CH-B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691640" y="3200400"/>
            <a:ext cx="1737360" cy="0"/>
          </a:xfrm>
          <a:prstGeom prst="line">
            <a:avLst/>
          </a:prstGeom>
          <a:noFill/>
          <a:ln w="31750">
            <a:solidFill>
              <a:srgbClr val="3E7CB1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315968" y="3200400"/>
            <a:ext cx="1783080" cy="0"/>
          </a:xfrm>
          <a:prstGeom prst="line">
            <a:avLst/>
          </a:prstGeom>
          <a:noFill/>
          <a:ln w="31750">
            <a:solidFill>
              <a:srgbClr val="3E7CB1"/>
            </a:solidFill>
            <a:prstDash val="solid"/>
            <a:headEnd type="triangle"/>
          </a:ln>
        </p:spPr>
      </p:sp>
      <p:sp>
        <p:nvSpPr>
          <p:cNvPr id="14" name="Shape 12"/>
          <p:cNvSpPr/>
          <p:nvPr/>
        </p:nvSpPr>
        <p:spPr>
          <a:xfrm>
            <a:off x="1371600" y="3977640"/>
            <a:ext cx="4937760" cy="0"/>
          </a:xfrm>
          <a:prstGeom prst="line">
            <a:avLst/>
          </a:prstGeom>
          <a:noFill/>
          <a:ln w="25400">
            <a:solidFill>
              <a:srgbClr val="C1352B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1371600" y="40416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13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2 and CH-B cannot hear each other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2084832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E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heard by CH-A. Under CSMA, node 2 senses a clear channel — because it genuinely cannot hear CH-B transmitting — and keys up. Both collide at CH-A. Carrier sense cannot prevent this: the information needed is not available at the sensing node.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680960" y="1828800"/>
            <a:ext cx="3931920" cy="4297680"/>
          </a:xfrm>
          <a:prstGeom prst="roundRect">
            <a:avLst>
              <a:gd name="adj" fmla="val 1860"/>
            </a:avLst>
          </a:prstGeom>
          <a:solidFill>
            <a:srgbClr val="1E4630"/>
          </a:solidFill>
          <a:ln w="12700">
            <a:solidFill>
              <a:srgbClr val="E2E8E3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001000" y="20848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slots buy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001000" y="260604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9CC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Collisions impossible by construction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9CC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contention window, no backoff, no wasted carrier sensing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9CC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Radios can sleep on a schedule — the entire energy story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9CC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slot map is a static object that can be verified before deployment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01000" y="52578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6FA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time synchronisation, and a fixed known node set. Both acceptable at six nodes.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FA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SCHEDULE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superframe: 60 seconds, ten slots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868680" cy="1371600"/>
          </a:xfrm>
          <a:prstGeom prst="roundRect">
            <a:avLst>
              <a:gd name="adj" fmla="val 6316"/>
            </a:avLst>
          </a:prstGeom>
          <a:solidFill>
            <a:srgbClr val="E8622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214884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beacon broadcast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508760" y="1417320"/>
            <a:ext cx="868680" cy="1371600"/>
          </a:xfrm>
          <a:prstGeom prst="roundRect">
            <a:avLst>
              <a:gd name="adj" fmla="val 6316"/>
            </a:avLst>
          </a:prstGeom>
          <a:solidFill>
            <a:srgbClr val="E8622C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150876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508760" y="18745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554480" y="214884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rebroadcast beacon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468880" y="1417320"/>
            <a:ext cx="868680" cy="1371600"/>
          </a:xfrm>
          <a:prstGeom prst="roundRect">
            <a:avLst>
              <a:gd name="adj" fmla="val 6316"/>
            </a:avLst>
          </a:prstGeom>
          <a:solidFill>
            <a:srgbClr val="E8622C"/>
          </a:solidFill>
          <a:ln/>
        </p:spPr>
      </p:sp>
      <p:sp>
        <p:nvSpPr>
          <p:cNvPr id="13" name="Text 11"/>
          <p:cNvSpPr/>
          <p:nvPr/>
        </p:nvSpPr>
        <p:spPr>
          <a:xfrm>
            <a:off x="2468880" y="150876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468880" y="18745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CH-B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514600" y="214884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rebroadcast beacon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429000" y="1417320"/>
            <a:ext cx="868680" cy="1371600"/>
          </a:xfrm>
          <a:prstGeom prst="roundRect">
            <a:avLst>
              <a:gd name="adj" fmla="val 6316"/>
            </a:avLst>
          </a:prstGeom>
          <a:solidFill>
            <a:srgbClr val="3E7CB1"/>
          </a:solidFill>
          <a:ln/>
        </p:spPr>
      </p:sp>
      <p:sp>
        <p:nvSpPr>
          <p:cNvPr id="17" name="Text 15"/>
          <p:cNvSpPr/>
          <p:nvPr/>
        </p:nvSpPr>
        <p:spPr>
          <a:xfrm>
            <a:off x="3429000" y="150876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429000" y="18745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CH-A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74720" y="214884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reading → GW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389120" y="1417320"/>
            <a:ext cx="868680" cy="1371600"/>
          </a:xfrm>
          <a:prstGeom prst="roundRect">
            <a:avLst>
              <a:gd name="adj" fmla="val 6316"/>
            </a:avLst>
          </a:prstGeom>
          <a:solidFill>
            <a:srgbClr val="6FA07A"/>
          </a:solidFill>
          <a:ln/>
        </p:spPr>
      </p:sp>
      <p:sp>
        <p:nvSpPr>
          <p:cNvPr id="21" name="Text 19"/>
          <p:cNvSpPr/>
          <p:nvPr/>
        </p:nvSpPr>
        <p:spPr>
          <a:xfrm>
            <a:off x="4389120" y="150876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389120" y="18745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2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434840" y="214884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→ CH-A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349240" y="1417320"/>
            <a:ext cx="868680" cy="1371600"/>
          </a:xfrm>
          <a:prstGeom prst="roundRect">
            <a:avLst>
              <a:gd name="adj" fmla="val 6316"/>
            </a:avLst>
          </a:prstGeom>
          <a:solidFill>
            <a:srgbClr val="6FA07A"/>
          </a:solidFill>
          <a:ln/>
        </p:spPr>
      </p:sp>
      <p:sp>
        <p:nvSpPr>
          <p:cNvPr id="25" name="Text 23"/>
          <p:cNvSpPr/>
          <p:nvPr/>
        </p:nvSpPr>
        <p:spPr>
          <a:xfrm>
            <a:off x="5349240" y="150876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349240" y="18745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3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394960" y="214884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→ CH-A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309360" y="1417320"/>
            <a:ext cx="868680" cy="1371600"/>
          </a:xfrm>
          <a:prstGeom prst="roundRect">
            <a:avLst>
              <a:gd name="adj" fmla="val 6316"/>
            </a:avLst>
          </a:prstGeom>
          <a:solidFill>
            <a:srgbClr val="3E7CB1"/>
          </a:solidFill>
          <a:ln/>
        </p:spPr>
      </p:sp>
      <p:sp>
        <p:nvSpPr>
          <p:cNvPr id="29" name="Text 27"/>
          <p:cNvSpPr/>
          <p:nvPr/>
        </p:nvSpPr>
        <p:spPr>
          <a:xfrm>
            <a:off x="6309360" y="150876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6309360" y="18745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CH-B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355080" y="214884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reading → CH-A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269480" y="1417320"/>
            <a:ext cx="868680" cy="1371600"/>
          </a:xfrm>
          <a:prstGeom prst="roundRect">
            <a:avLst>
              <a:gd name="adj" fmla="val 6316"/>
            </a:avLst>
          </a:prstGeom>
          <a:solidFill>
            <a:srgbClr val="6FA07A"/>
          </a:solidFill>
          <a:ln/>
        </p:spPr>
      </p:sp>
      <p:sp>
        <p:nvSpPr>
          <p:cNvPr id="33" name="Text 31"/>
          <p:cNvSpPr/>
          <p:nvPr/>
        </p:nvSpPr>
        <p:spPr>
          <a:xfrm>
            <a:off x="7269480" y="150876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7269480" y="18745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5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315200" y="214884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→ CH-B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8229600" y="1417320"/>
            <a:ext cx="868680" cy="1371600"/>
          </a:xfrm>
          <a:prstGeom prst="roundRect">
            <a:avLst>
              <a:gd name="adj" fmla="val 6316"/>
            </a:avLst>
          </a:prstGeom>
          <a:solidFill>
            <a:srgbClr val="3E7CB1"/>
          </a:solidFill>
          <a:ln/>
        </p:spPr>
      </p:sp>
      <p:sp>
        <p:nvSpPr>
          <p:cNvPr id="37" name="Text 35"/>
          <p:cNvSpPr/>
          <p:nvPr/>
        </p:nvSpPr>
        <p:spPr>
          <a:xfrm>
            <a:off x="8229600" y="150876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8229600" y="18745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CH-B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275320" y="214884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cluster B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9189720" y="1417320"/>
            <a:ext cx="868680" cy="1371600"/>
          </a:xfrm>
          <a:prstGeom prst="roundRect">
            <a:avLst>
              <a:gd name="adj" fmla="val 6316"/>
            </a:avLst>
          </a:prstGeom>
          <a:solidFill>
            <a:srgbClr val="3E7CB1"/>
          </a:solidFill>
          <a:ln/>
        </p:spPr>
      </p:sp>
      <p:sp>
        <p:nvSpPr>
          <p:cNvPr id="41" name="Text 39"/>
          <p:cNvSpPr/>
          <p:nvPr/>
        </p:nvSpPr>
        <p:spPr>
          <a:xfrm>
            <a:off x="9189720" y="150876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9189720" y="18745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CH-A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9235440" y="214884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everything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48640" y="2926080"/>
            <a:ext cx="9601200" cy="384048"/>
          </a:xfrm>
          <a:prstGeom prst="roundRect">
            <a:avLst>
              <a:gd name="adj" fmla="val 14286"/>
            </a:avLst>
          </a:prstGeom>
          <a:solidFill>
            <a:srgbClr val="DDE5DF"/>
          </a:solidFill>
          <a:ln/>
        </p:spPr>
      </p:sp>
      <p:sp>
        <p:nvSpPr>
          <p:cNvPr id="45" name="Text 43"/>
          <p:cNvSpPr/>
          <p:nvPr/>
        </p:nvSpPr>
        <p:spPr>
          <a:xfrm>
            <a:off x="548640" y="292608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 of slots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0241280" y="2926080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1E4630"/>
          </a:solidFill>
          <a:ln/>
        </p:spPr>
      </p:sp>
      <p:sp>
        <p:nvSpPr>
          <p:cNvPr id="47" name="Text 45"/>
          <p:cNvSpPr/>
          <p:nvPr/>
        </p:nvSpPr>
        <p:spPr>
          <a:xfrm>
            <a:off x="10241280" y="29260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s asleep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48640" y="370332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E3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868680" y="393192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three beacon slots?</a:t>
            </a:r>
            <a:endParaRPr lang="en-US" sz="1700" dirty="0"/>
          </a:p>
        </p:txBody>
      </p:sp>
      <p:sp>
        <p:nvSpPr>
          <p:cNvPr id="50" name="Text 48"/>
          <p:cNvSpPr/>
          <p:nvPr/>
        </p:nvSpPr>
        <p:spPr>
          <a:xfrm>
            <a:off x="868680" y="434340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E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B is out of gateway range by design — so it cannot hear the sync beacon either. An unsynchronised node drifts until it transmits into someone else’s slot, reintroducing exactly the collisions TDMA prevents.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E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is relayed along the same tree the data takes. Each relay needs its OWN slot: two heads rebroadcasting in one slot would collide with each other.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6217920" y="370332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1E4630"/>
          </a:solidFill>
          <a:ln w="12700">
            <a:solidFill>
              <a:srgbClr val="E2E8E3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6537960" y="393192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Duty cycle by role</a:t>
            </a:r>
            <a:endParaRPr lang="en-US" sz="1700" dirty="0"/>
          </a:p>
        </p:txBody>
      </p:sp>
      <p:sp>
        <p:nvSpPr>
          <p:cNvPr id="53" name="Text 51"/>
          <p:cNvSpPr/>
          <p:nvPr/>
        </p:nvSpPr>
        <p:spPr>
          <a:xfrm>
            <a:off x="6537960" y="44074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C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node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9006840" y="4471416"/>
            <a:ext cx="388010" cy="164592"/>
          </a:xfrm>
          <a:prstGeom prst="roundRect">
            <a:avLst>
              <a:gd name="adj" fmla="val 22222"/>
            </a:avLst>
          </a:prstGeom>
          <a:solidFill>
            <a:srgbClr val="6FA07A"/>
          </a:solidFill>
          <a:ln/>
        </p:spPr>
      </p:sp>
      <p:sp>
        <p:nvSpPr>
          <p:cNvPr id="55" name="Text 53"/>
          <p:cNvSpPr/>
          <p:nvPr/>
        </p:nvSpPr>
        <p:spPr>
          <a:xfrm>
            <a:off x="10835640" y="4407408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6.7%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537960" y="479145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C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head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9006840" y="4855464"/>
            <a:ext cx="579120" cy="164592"/>
          </a:xfrm>
          <a:prstGeom prst="roundRect">
            <a:avLst>
              <a:gd name="adj" fmla="val 22222"/>
            </a:avLst>
          </a:prstGeom>
          <a:solidFill>
            <a:srgbClr val="6FA07A"/>
          </a:solidFill>
          <a:ln/>
        </p:spPr>
      </p:sp>
      <p:sp>
        <p:nvSpPr>
          <p:cNvPr id="58" name="Text 56"/>
          <p:cNvSpPr/>
          <p:nvPr/>
        </p:nvSpPr>
        <p:spPr>
          <a:xfrm>
            <a:off x="10835640" y="47914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10.0%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6537960" y="517550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C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CH-B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9006840" y="5239512"/>
            <a:ext cx="967130" cy="164592"/>
          </a:xfrm>
          <a:prstGeom prst="roundRect">
            <a:avLst>
              <a:gd name="adj" fmla="val 22222"/>
            </a:avLst>
          </a:prstGeom>
          <a:solidFill>
            <a:srgbClr val="6FA07A"/>
          </a:solidFill>
          <a:ln/>
        </p:spPr>
      </p:sp>
      <p:sp>
        <p:nvSpPr>
          <p:cNvPr id="61" name="Text 59"/>
          <p:cNvSpPr/>
          <p:nvPr/>
        </p:nvSpPr>
        <p:spPr>
          <a:xfrm>
            <a:off x="10835640" y="5175504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16.7%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6537960" y="55595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C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CH-A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9006840" y="5623560"/>
            <a:ext cx="1737360" cy="164592"/>
          </a:xfrm>
          <a:prstGeom prst="roundRect">
            <a:avLst>
              <a:gd name="adj" fmla="val 22222"/>
            </a:avLst>
          </a:prstGeom>
          <a:solidFill>
            <a:srgbClr val="E8622C"/>
          </a:solidFill>
          <a:ln/>
        </p:spPr>
      </p:sp>
      <p:sp>
        <p:nvSpPr>
          <p:cNvPr id="64" name="Text 62"/>
          <p:cNvSpPr/>
          <p:nvPr/>
        </p:nvSpPr>
        <p:spPr>
          <a:xfrm>
            <a:off x="10835640" y="555955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30.0%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 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local minimum, with real numbers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geographic routing forwards to whichever neighbour is closest to the gateway. It needs no routing tables. It also fails.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640080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2E8E3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08483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N-03 is 714 m from the gateway. Its neighbours: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N-11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74520" y="2578608"/>
            <a:ext cx="2187329" cy="173736"/>
          </a:xfrm>
          <a:prstGeom prst="roundRect">
            <a:avLst>
              <a:gd name="adj" fmla="val 21053"/>
            </a:avLst>
          </a:prstGeom>
          <a:solidFill>
            <a:srgbClr val="D6DED8"/>
          </a:solidFill>
          <a:ln/>
        </p:spPr>
      </p:sp>
      <p:sp>
        <p:nvSpPr>
          <p:cNvPr id="9" name="Text 7"/>
          <p:cNvSpPr/>
          <p:nvPr/>
        </p:nvSpPr>
        <p:spPr>
          <a:xfrm>
            <a:off x="5623560" y="25146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13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726 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91693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N-16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874520" y="2980944"/>
            <a:ext cx="2678424" cy="173736"/>
          </a:xfrm>
          <a:prstGeom prst="roundRect">
            <a:avLst>
              <a:gd name="adj" fmla="val 21053"/>
            </a:avLst>
          </a:prstGeom>
          <a:solidFill>
            <a:srgbClr val="D6DED8"/>
          </a:solidFill>
          <a:ln/>
        </p:spPr>
      </p:sp>
      <p:sp>
        <p:nvSpPr>
          <p:cNvPr id="12" name="Text 10"/>
          <p:cNvSpPr/>
          <p:nvPr/>
        </p:nvSpPr>
        <p:spPr>
          <a:xfrm>
            <a:off x="5623560" y="291693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13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889 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33192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N-21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874520" y="3383280"/>
            <a:ext cx="3088171" cy="173736"/>
          </a:xfrm>
          <a:prstGeom prst="roundRect">
            <a:avLst>
              <a:gd name="adj" fmla="val 21053"/>
            </a:avLst>
          </a:prstGeom>
          <a:solidFill>
            <a:srgbClr val="D6DED8"/>
          </a:solidFill>
          <a:ln/>
        </p:spPr>
      </p:sp>
      <p:sp>
        <p:nvSpPr>
          <p:cNvPr id="15" name="Text 13"/>
          <p:cNvSpPr/>
          <p:nvPr/>
        </p:nvSpPr>
        <p:spPr>
          <a:xfrm>
            <a:off x="5623560" y="331927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13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1025 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372160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N-24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874520" y="3785616"/>
            <a:ext cx="3317148" cy="173736"/>
          </a:xfrm>
          <a:prstGeom prst="roundRect">
            <a:avLst>
              <a:gd name="adj" fmla="val 21053"/>
            </a:avLst>
          </a:prstGeom>
          <a:solidFill>
            <a:srgbClr val="D6DED8"/>
          </a:solidFill>
          <a:ln/>
        </p:spPr>
      </p:sp>
      <p:sp>
        <p:nvSpPr>
          <p:cNvPr id="18" name="Text 16"/>
          <p:cNvSpPr/>
          <p:nvPr/>
        </p:nvSpPr>
        <p:spPr>
          <a:xfrm>
            <a:off x="5623560" y="372160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13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1101 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412394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N-29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874520" y="4187952"/>
            <a:ext cx="3657600" cy="173736"/>
          </a:xfrm>
          <a:prstGeom prst="roundRect">
            <a:avLst>
              <a:gd name="adj" fmla="val 21053"/>
            </a:avLst>
          </a:prstGeom>
          <a:solidFill>
            <a:srgbClr val="D6DED8"/>
          </a:solidFill>
          <a:ln/>
        </p:spPr>
      </p:sp>
      <p:sp>
        <p:nvSpPr>
          <p:cNvPr id="21" name="Text 19"/>
          <p:cNvSpPr/>
          <p:nvPr/>
        </p:nvSpPr>
        <p:spPr>
          <a:xfrm>
            <a:off x="5623560" y="412394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13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1214 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874520" y="2468880"/>
            <a:ext cx="0" cy="2148840"/>
          </a:xfrm>
          <a:prstGeom prst="line">
            <a:avLst/>
          </a:prstGeom>
          <a:noFill/>
          <a:ln w="25400">
            <a:solidFill>
              <a:srgbClr val="E8622C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1280160" y="45902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714 m — where we are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315200" y="1828800"/>
            <a:ext cx="4297680" cy="4206240"/>
          </a:xfrm>
          <a:prstGeom prst="roundRect">
            <a:avLst>
              <a:gd name="adj" fmla="val 1739"/>
            </a:avLst>
          </a:prstGeom>
          <a:solidFill>
            <a:srgbClr val="1E4630"/>
          </a:solidFill>
          <a:ln w="12700">
            <a:solidFill>
              <a:srgbClr val="E2E8E3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635240" y="21031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neighbour is farther away.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635240" y="29260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CC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has nothing to pick. The packet is stuck — and a perfectly good route exists: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63524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N-03  →  N-21  →  N-08  →  GW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635240" y="416052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first hop goes 311 m in the WRONG direction. Greedy will never choose it, because greedy only ever moves closer.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635240" y="52120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6FA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Escaping a void requires moving away from the destination first.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FINDING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 choice is scale-dependent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E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answers at six nodes are the OPPOSITE of the right answers at fifty. Both were built, so the trade is measured rather than assumed.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1E4630"/>
          </a:solidFill>
          <a:ln w="12700">
            <a:solidFill>
              <a:srgbClr val="E2E8E3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nodes — the hardware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C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access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697480" y="265176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TDMA slots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14400" y="32004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C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697480" y="320040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next-hop tables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14400" y="37490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C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697480" y="374904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Fixed, surveyed in advance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14400" y="42976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C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minima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697480" y="429768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arise — no greedy decision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14400" y="498348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9CC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nodes cannot usefully negotiate. A fixed map is verifiable before deployment and cannot diverge.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72200" y="187452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2E5C7A"/>
          </a:solidFill>
          <a:ln w="12700">
            <a:solidFill>
              <a:srgbClr val="E2E8E3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3796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 nodes — the simulator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537960" y="26517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access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321040" y="265176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Contention-based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537960" y="32004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321040" y="320040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geographic + perimeter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537960" y="37490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321040" y="374904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Elected, rotated by residual energy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537960" y="42976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minima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321040" y="429768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Occur, and must be recovered from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537960" y="498348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A8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slots do not scale. Most nodes are out of sink range, so geographic forwarding earns its keep.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RQ5 + RQ7 — ENERGY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radio is 1% of the problem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WSN energy model accounts for the transceiver. On this hardware the transceiver is a rounding error — so every optimisation in this project acts on 1% of the budget.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3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04825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watts go — CH-A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4871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platform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97480" y="2551176"/>
            <a:ext cx="2286000" cy="164592"/>
          </a:xfrm>
          <a:prstGeom prst="roundRect">
            <a:avLst>
              <a:gd name="adj" fmla="val 22222"/>
            </a:avLst>
          </a:prstGeom>
          <a:solidFill>
            <a:srgbClr val="1E4630"/>
          </a:solidFill>
          <a:ln/>
        </p:spPr>
      </p:sp>
      <p:sp>
        <p:nvSpPr>
          <p:cNvPr id="9" name="Text 7"/>
          <p:cNvSpPr/>
          <p:nvPr/>
        </p:nvSpPr>
        <p:spPr>
          <a:xfrm>
            <a:off x="5120640" y="24871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53%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28712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MQ-2 heater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97480" y="2935224"/>
            <a:ext cx="1958196" cy="164592"/>
          </a:xfrm>
          <a:prstGeom prst="roundRect">
            <a:avLst>
              <a:gd name="adj" fmla="val 22222"/>
            </a:avLst>
          </a:prstGeom>
          <a:solidFill>
            <a:srgbClr val="E8622C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8712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45.4%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32552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radio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697480" y="3319272"/>
            <a:ext cx="51758" cy="164592"/>
          </a:xfrm>
          <a:prstGeom prst="roundRect">
            <a:avLst>
              <a:gd name="adj" fmla="val 70667"/>
            </a:avLst>
          </a:prstGeom>
          <a:solidFill>
            <a:srgbClr val="3E7CB1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32552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36393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DHT22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697480" y="3703320"/>
            <a:ext cx="45720" cy="164592"/>
          </a:xfrm>
          <a:prstGeom prst="roundRect">
            <a:avLst>
              <a:gd name="adj" fmla="val 80000"/>
            </a:avLst>
          </a:prstGeom>
          <a:solidFill>
            <a:srgbClr val="C6CFC8"/>
          </a:solidFill>
          <a:ln/>
        </p:spPr>
      </p:sp>
      <p:sp>
        <p:nvSpPr>
          <p:cNvPr id="18" name="Text 16"/>
          <p:cNvSpPr/>
          <p:nvPr/>
        </p:nvSpPr>
        <p:spPr>
          <a:xfrm>
            <a:off x="5120640" y="36393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0.5%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1828800"/>
            <a:ext cx="5212080" cy="2286000"/>
          </a:xfrm>
          <a:prstGeom prst="roundRect">
            <a:avLst>
              <a:gd name="adj" fmla="val 3200"/>
            </a:avLst>
          </a:prstGeom>
          <a:solidFill>
            <a:srgbClr val="1E4630"/>
          </a:solidFill>
          <a:ln w="12700">
            <a:solidFill>
              <a:srgbClr val="E2E8E3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37960" y="204825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RQ5 — is the standard model valid here?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37960" y="2606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CC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unmodified it predicted ZERO node deaths in 400 rounds.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37960" y="30632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6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1450x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8778240" y="3154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CC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overstatement of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CC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life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537960" y="37307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no. A Pi is not a mote.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343400"/>
            <a:ext cx="108813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E3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68680" y="455371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RQ7 — is battery operation viable?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68680" y="4983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built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68680" y="523036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13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2.7 h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3566160" y="4983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sleep OFF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566160" y="523036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13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2.6 h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6263640" y="4983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MQ-2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263640" y="523036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FA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7.0 h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8961120" y="4983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MCU + no MQ-2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961120" y="523036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FA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21.8 h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868680" y="568756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Disabling the radio sleep — the mechanism this project is built around — costs 4%. Removing the gas sensor is worth 3x. NOT viable as built, and the blocker is not the network.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9CC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when something breaks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1E4630"/>
          </a:solidFill>
          <a:ln w="12700">
            <a:solidFill>
              <a:srgbClr val="E2E8E3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828800"/>
            <a:ext cx="457200" cy="457200"/>
          </a:xfrm>
          <a:prstGeom prst="ellipse">
            <a:avLst/>
          </a:prstGeom>
          <a:solidFill>
            <a:srgbClr val="6FA07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645920" y="184708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 fails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46888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CC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Acknowledged forwarding, three retries, then fall through to the next hop in the ordered route table.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463040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1E4630"/>
          </a:solidFill>
          <a:ln w="12700">
            <a:solidFill>
              <a:srgbClr val="E2E8E3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29400" y="1828800"/>
            <a:ext cx="457200" cy="457200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269480" y="184708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 head dies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29400" y="246888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CC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backup detects unacknowledged uplinks and promotes itself — adopting the dead head’s slots, which are free precisely because it is silent.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794760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1E4630"/>
          </a:solidFill>
          <a:ln w="12700">
            <a:solidFill>
              <a:srgbClr val="E2E8E3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05840" y="4160520"/>
            <a:ext cx="457200" cy="457200"/>
          </a:xfrm>
          <a:prstGeom prst="ellipse">
            <a:avLst/>
          </a:prstGeom>
          <a:solidFill>
            <a:srgbClr val="3E7CB1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45920" y="41788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route at all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5840" y="480060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CC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and forward. The reading is buffered, not discarded, and retried next frame.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3794760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1E4630"/>
          </a:solidFill>
          <a:ln w="12700">
            <a:solidFill>
              <a:srgbClr val="E2E8E3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29400" y="4160520"/>
            <a:ext cx="457200" cy="457200"/>
          </a:xfrm>
          <a:prstGeom prst="ellipse">
            <a:avLst/>
          </a:prstGeom>
          <a:solidFill>
            <a:srgbClr val="B07AA8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269480" y="41788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 needs it stopped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629400" y="480060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CC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command field in the beacon — the network’s only downlink. Halt auto-expires after 30 minutes.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61447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FA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halted fire-detection network is a silent one — so the stop command has a dead-man timer at both ends.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that actually found things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1E4630"/>
          </a:solidFill>
          <a:ln w="12700">
            <a:solidFill>
              <a:srgbClr val="E2E8E3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27632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deployment firmware, on a virtual radio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CC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netsim.py imports the actual gateway.py and sensor_node.py rather than reimplementing them, and runs all six stacks against a channel that models airtime, range and overlap. What is tested is what ships.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89320" y="1371600"/>
            <a:ext cx="56235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E3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199632" y="1609344"/>
            <a:ext cx="365760" cy="365760"/>
          </a:xfrm>
          <a:prstGeom prst="ellipse">
            <a:avLst/>
          </a:prstGeom>
          <a:solidFill>
            <a:srgbClr val="C1352B"/>
          </a:solidFill>
          <a:ln/>
        </p:spPr>
      </p:sp>
      <p:sp>
        <p:nvSpPr>
          <p:cNvPr id="9" name="Text 7"/>
          <p:cNvSpPr/>
          <p:nvPr/>
        </p:nvSpPr>
        <p:spPr>
          <a:xfrm>
            <a:off x="6199632" y="1609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693408" y="1444752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 test on a hop address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93408" y="170078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E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gateway’s address is 0 — falsy in Python. Every successful delivery read as failure; heads re-queued delivered readings forever.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89320" y="2340864"/>
            <a:ext cx="56235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E3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99632" y="2578608"/>
            <a:ext cx="365760" cy="365760"/>
          </a:xfrm>
          <a:prstGeom prst="ellipse">
            <a:avLst/>
          </a:prstGeom>
          <a:solidFill>
            <a:srgbClr val="C1352B"/>
          </a:solidFill>
          <a:ln/>
        </p:spPr>
      </p:sp>
      <p:sp>
        <p:nvSpPr>
          <p:cNvPr id="14" name="Text 12"/>
          <p:cNvSpPr/>
          <p:nvPr/>
        </p:nvSpPr>
        <p:spPr>
          <a:xfrm>
            <a:off x="6199632" y="2578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693408" y="2414016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beacon relay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93408" y="267004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E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B, out of gateway range by design, could never synchronise.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89320" y="3310128"/>
            <a:ext cx="56235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E3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99632" y="3547872"/>
            <a:ext cx="365760" cy="365760"/>
          </a:xfrm>
          <a:prstGeom prst="ellipse">
            <a:avLst/>
          </a:prstGeom>
          <a:solidFill>
            <a:srgbClr val="C1352B"/>
          </a:solidFill>
          <a:ln/>
        </p:spPr>
      </p:sp>
      <p:sp>
        <p:nvSpPr>
          <p:cNvPr id="19" name="Text 17"/>
          <p:cNvSpPr/>
          <p:nvPr/>
        </p:nvSpPr>
        <p:spPr>
          <a:xfrm>
            <a:off x="6199632" y="3547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693408" y="3383280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slots hand-listed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93408" y="363931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E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CH-A slept through CH-B’s transmission slot. Its readings had nowhere to land.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89320" y="4279392"/>
            <a:ext cx="56235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E3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9632" y="4517136"/>
            <a:ext cx="365760" cy="365760"/>
          </a:xfrm>
          <a:prstGeom prst="ellipse">
            <a:avLst/>
          </a:prstGeom>
          <a:solidFill>
            <a:srgbClr val="C1352B"/>
          </a:solidFill>
          <a:ln/>
        </p:spPr>
      </p:sp>
      <p:sp>
        <p:nvSpPr>
          <p:cNvPr id="24" name="Text 22"/>
          <p:cNvSpPr/>
          <p:nvPr/>
        </p:nvSpPr>
        <p:spPr>
          <a:xfrm>
            <a:off x="6199632" y="4517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693408" y="4352544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 on beacon silence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693408" y="460857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E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backup seized the slots of a working head — 48 collisions.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89320" y="5248656"/>
            <a:ext cx="56235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E3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99632" y="5486400"/>
            <a:ext cx="365760" cy="365760"/>
          </a:xfrm>
          <a:prstGeom prst="ellipse">
            <a:avLst/>
          </a:prstGeom>
          <a:solidFill>
            <a:srgbClr val="C1352B"/>
          </a:solidFill>
          <a:ln/>
        </p:spPr>
      </p:sp>
      <p:sp>
        <p:nvSpPr>
          <p:cNvPr id="29" name="Text 27"/>
          <p:cNvSpPr/>
          <p:nvPr/>
        </p:nvSpPr>
        <p:spPr>
          <a:xfrm>
            <a:off x="6199632" y="5486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693408" y="5321808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 severed the relay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693408" y="55778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E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halted CH-A stopped relaying the beacon, cutting cluster B off from the command channel entirely.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361188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86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defects</a:t>
            </a:r>
            <a:endParaRPr lang="en-US" sz="4200" dirty="0"/>
          </a:p>
        </p:txBody>
      </p:sp>
      <p:sp>
        <p:nvSpPr>
          <p:cNvPr id="33" name="Text 31"/>
          <p:cNvSpPr/>
          <p:nvPr/>
        </p:nvSpPr>
        <p:spPr>
          <a:xfrm>
            <a:off x="548640" y="42245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before any hardware was connected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48640" y="470916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3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would have presented on hardware as intermittent data loss — the hardest class of fault to diagnose in a forest. One would have appeared only under head failure, which is exactly the condition the mechanism exists to handle.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9CC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SIMULATED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frames, six nodes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1E4630"/>
          </a:solidFill>
          <a:ln w="12700">
            <a:solidFill>
              <a:srgbClr val="E2E8E3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64592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86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245059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FA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collisions in 184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FA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74720" y="141732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1E4630"/>
          </a:solidFill>
          <a:ln w="12700">
            <a:solidFill>
              <a:srgbClr val="E2E8E3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749040" y="164592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9CC0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749040" y="245059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FA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delivery,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FA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of 40 readings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141732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1E4630"/>
          </a:solidFill>
          <a:ln w="12700">
            <a:solidFill>
              <a:srgbClr val="E2E8E3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0" y="164592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9CC0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6583680" y="245059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FA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and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FA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retries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144000" y="141732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1E4630"/>
          </a:solidFill>
          <a:ln w="12700">
            <a:solidFill>
              <a:srgbClr val="E2E8E3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418320" y="164592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9CC0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9418320" y="245059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FA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hops for node 5,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FA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CH-B and CH-A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3520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path per node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" y="40233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C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920240" y="40233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→ GW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434840" y="4069080"/>
            <a:ext cx="201168" cy="201168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20" name="Text 18"/>
          <p:cNvSpPr/>
          <p:nvPr/>
        </p:nvSpPr>
        <p:spPr>
          <a:xfrm>
            <a:off x="5760720" y="40233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A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hop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44988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C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920240" y="44988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→ 1 → GW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434840" y="4544568"/>
            <a:ext cx="201168" cy="201168"/>
          </a:xfrm>
          <a:prstGeom prst="ellipse">
            <a:avLst/>
          </a:prstGeom>
          <a:solidFill>
            <a:srgbClr val="3E7CB1"/>
          </a:solidFill>
          <a:ln/>
        </p:spPr>
      </p:sp>
      <p:sp>
        <p:nvSpPr>
          <p:cNvPr id="24" name="Shape 22"/>
          <p:cNvSpPr/>
          <p:nvPr/>
        </p:nvSpPr>
        <p:spPr>
          <a:xfrm>
            <a:off x="4818888" y="4544568"/>
            <a:ext cx="201168" cy="201168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25" name="Text 23"/>
          <p:cNvSpPr/>
          <p:nvPr/>
        </p:nvSpPr>
        <p:spPr>
          <a:xfrm>
            <a:off x="5760720" y="44988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A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hops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497433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C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920240" y="497433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→ 1 → GW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434840" y="5020056"/>
            <a:ext cx="201168" cy="201168"/>
          </a:xfrm>
          <a:prstGeom prst="ellipse">
            <a:avLst/>
          </a:prstGeom>
          <a:solidFill>
            <a:srgbClr val="3E7CB1"/>
          </a:solidFill>
          <a:ln/>
        </p:spPr>
      </p:sp>
      <p:sp>
        <p:nvSpPr>
          <p:cNvPr id="29" name="Shape 27"/>
          <p:cNvSpPr/>
          <p:nvPr/>
        </p:nvSpPr>
        <p:spPr>
          <a:xfrm>
            <a:off x="4818888" y="5020056"/>
            <a:ext cx="201168" cy="201168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30" name="Text 28"/>
          <p:cNvSpPr/>
          <p:nvPr/>
        </p:nvSpPr>
        <p:spPr>
          <a:xfrm>
            <a:off x="5760720" y="497433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A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hops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" y="544982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C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CH-B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920240" y="544982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→ 1 → GW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434840" y="5495544"/>
            <a:ext cx="201168" cy="201168"/>
          </a:xfrm>
          <a:prstGeom prst="ellipse">
            <a:avLst/>
          </a:prstGeom>
          <a:solidFill>
            <a:srgbClr val="3E7CB1"/>
          </a:solidFill>
          <a:ln/>
        </p:spPr>
      </p:sp>
      <p:sp>
        <p:nvSpPr>
          <p:cNvPr id="34" name="Shape 32"/>
          <p:cNvSpPr/>
          <p:nvPr/>
        </p:nvSpPr>
        <p:spPr>
          <a:xfrm>
            <a:off x="4818888" y="5495544"/>
            <a:ext cx="201168" cy="201168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35" name="Text 33"/>
          <p:cNvSpPr/>
          <p:nvPr/>
        </p:nvSpPr>
        <p:spPr>
          <a:xfrm>
            <a:off x="5760720" y="544982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A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hops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0080" y="592531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C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5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920240" y="59253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→ 4 → 1 → GW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434840" y="5971032"/>
            <a:ext cx="201168" cy="201168"/>
          </a:xfrm>
          <a:prstGeom prst="ellipse">
            <a:avLst/>
          </a:prstGeom>
          <a:solidFill>
            <a:srgbClr val="3E7CB1"/>
          </a:solidFill>
          <a:ln/>
        </p:spPr>
      </p:sp>
      <p:sp>
        <p:nvSpPr>
          <p:cNvPr id="39" name="Shape 37"/>
          <p:cNvSpPr/>
          <p:nvPr/>
        </p:nvSpPr>
        <p:spPr>
          <a:xfrm>
            <a:off x="4818888" y="5971032"/>
            <a:ext cx="201168" cy="201168"/>
          </a:xfrm>
          <a:prstGeom prst="ellipse">
            <a:avLst/>
          </a:prstGeom>
          <a:solidFill>
            <a:srgbClr val="3E7CB1"/>
          </a:solidFill>
          <a:ln/>
        </p:spPr>
      </p:sp>
      <p:sp>
        <p:nvSpPr>
          <p:cNvPr id="40" name="Shape 38"/>
          <p:cNvSpPr/>
          <p:nvPr/>
        </p:nvSpPr>
        <p:spPr>
          <a:xfrm>
            <a:off x="5202936" y="5971032"/>
            <a:ext cx="201168" cy="201168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41" name="Text 39"/>
          <p:cNvSpPr/>
          <p:nvPr/>
        </p:nvSpPr>
        <p:spPr>
          <a:xfrm>
            <a:off x="5760720" y="592531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A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hops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949440" y="3474720"/>
            <a:ext cx="4572000" cy="2788920"/>
          </a:xfrm>
          <a:prstGeom prst="roundRect">
            <a:avLst>
              <a:gd name="adj" fmla="val 2623"/>
            </a:avLst>
          </a:prstGeom>
          <a:solidFill>
            <a:srgbClr val="1E4630"/>
          </a:solidFill>
          <a:ln w="12700">
            <a:solidFill>
              <a:srgbClr val="E2E8E3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269480" y="37490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Fault injection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7269480" y="4114800"/>
            <a:ext cx="3931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9CC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at node 5 propagated across all three hops, flagged correctly, zero collisions</a:t>
            </a:r>
            <a:endParaRPr lang="en-US" sz="110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9CC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CH-A killed: node 3 promoted after three unacknowledged frames, adopted its slots, zero collisions through failover</a:t>
            </a:r>
            <a:endParaRPr lang="en-US" sz="110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9CC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B correctly partitioned and buffered — no algorithm can cross a physical partition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40080" y="62636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FA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regenerated by  python3 pi/tools/experiments.py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FA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will show you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8580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E3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591056"/>
            <a:ext cx="402336" cy="402336"/>
          </a:xfrm>
          <a:prstGeom prst="ellipse">
            <a:avLst/>
          </a:prstGeom>
          <a:solidFill>
            <a:srgbClr val="1E4630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5910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353312" y="145389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 on the map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53312" y="1728216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heads ringed in blue, backups dashed, members linked to their head. The gateway at the centre.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68580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E3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4672" y="2551176"/>
            <a:ext cx="402336" cy="402336"/>
          </a:xfrm>
          <a:prstGeom prst="ellipse">
            <a:avLst/>
          </a:prstGeom>
          <a:solidFill>
            <a:srgbClr val="1E4630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2551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53312" y="241401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three-hop route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53312" y="2688336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node 5 — its path draws as 5 → CH-B → CH-A → gateway, coloured per hop.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291840"/>
            <a:ext cx="68580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E3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3511296"/>
            <a:ext cx="402336" cy="402336"/>
          </a:xfrm>
          <a:prstGeom prst="ellipse">
            <a:avLst/>
          </a:prstGeom>
          <a:solidFill>
            <a:srgbClr val="1E4630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511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353312" y="337413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minima recovery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53312" y="3648456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50-node view, a node outlined amber. Its route detours around the ridge in perimeter mode.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251960"/>
            <a:ext cx="68580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E3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4471416"/>
            <a:ext cx="402336" cy="402336"/>
          </a:xfrm>
          <a:prstGeom prst="ellipse">
            <a:avLst/>
          </a:prstGeom>
          <a:solidFill>
            <a:srgbClr val="1E4630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4714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353312" y="433425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head failover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53312" y="4608576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a head. Within three rounds its backup is promoted, the cluster re-homes, the event log records it.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5212080"/>
            <a:ext cx="68580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E3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4672" y="5431536"/>
            <a:ext cx="402336" cy="402336"/>
          </a:xfrm>
          <a:prstGeom prst="ellipse">
            <a:avLst/>
          </a:prstGeom>
          <a:solidFill>
            <a:srgbClr val="1E4630"/>
          </a:solidFill>
          <a:ln/>
        </p:spPr>
      </p:sp>
      <p:sp>
        <p:nvSpPr>
          <p:cNvPr id="26" name="Text 24"/>
          <p:cNvSpPr/>
          <p:nvPr/>
        </p:nvSpPr>
        <p:spPr>
          <a:xfrm>
            <a:off x="804672" y="5431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353312" y="529437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stop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353312" y="5568696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 the network. The banner goes red and every node stops transmitting — then auto-resumes.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726680" y="1371600"/>
            <a:ext cx="3886200" cy="4754880"/>
          </a:xfrm>
          <a:prstGeom prst="roundRect">
            <a:avLst>
              <a:gd name="adj" fmla="val 1882"/>
            </a:avLst>
          </a:prstGeom>
          <a:solidFill>
            <a:srgbClr val="1E4630"/>
          </a:solidFill>
          <a:ln w="12700">
            <a:solidFill>
              <a:srgbClr val="E2E8E3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046720" y="164592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views, one dashboard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046720" y="242316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CC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interface abstracts the data origin, so the same rendering code serves the simulator and the live gateway. Switching between them is one line in the markup.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046720" y="365760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6FA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046720" y="391363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nodes, clustering and geographic routing at a scale where they earn their keep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046720" y="466344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6FA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046720" y="4919472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telemetry from the gateway Pi, with the true multi-hop path drawn from the packets themselves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937760"/>
            <a:ext cx="219456" cy="219456"/>
          </a:xfrm>
          <a:prstGeom prst="ellipse">
            <a:avLst/>
          </a:prstGeom>
          <a:solidFill>
            <a:srgbClr val="6FA07A"/>
          </a:solidFill>
          <a:ln/>
        </p:spPr>
      </p:sp>
      <p:sp>
        <p:nvSpPr>
          <p:cNvPr id="3" name="Shape 1"/>
          <p:cNvSpPr/>
          <p:nvPr/>
        </p:nvSpPr>
        <p:spPr>
          <a:xfrm>
            <a:off x="1737360" y="5486400"/>
            <a:ext cx="219456" cy="219456"/>
          </a:xfrm>
          <a:prstGeom prst="ellipse">
            <a:avLst/>
          </a:prstGeom>
          <a:solidFill>
            <a:srgbClr val="6FA07A"/>
          </a:solidFill>
          <a:ln/>
        </p:spPr>
      </p:sp>
      <p:sp>
        <p:nvSpPr>
          <p:cNvPr id="4" name="Shape 2"/>
          <p:cNvSpPr/>
          <p:nvPr/>
        </p:nvSpPr>
        <p:spPr>
          <a:xfrm>
            <a:off x="2651760" y="5029200"/>
            <a:ext cx="310896" cy="310896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5" name="Shape 3"/>
          <p:cNvSpPr/>
          <p:nvPr/>
        </p:nvSpPr>
        <p:spPr>
          <a:xfrm>
            <a:off x="3566160" y="5669280"/>
            <a:ext cx="219456" cy="219456"/>
          </a:xfrm>
          <a:prstGeom prst="ellipse">
            <a:avLst/>
          </a:prstGeom>
          <a:solidFill>
            <a:srgbClr val="6FA07A"/>
          </a:solidFill>
          <a:ln/>
        </p:spPr>
      </p:sp>
      <p:sp>
        <p:nvSpPr>
          <p:cNvPr id="6" name="Shape 4"/>
          <p:cNvSpPr/>
          <p:nvPr/>
        </p:nvSpPr>
        <p:spPr>
          <a:xfrm>
            <a:off x="4480560" y="5212080"/>
            <a:ext cx="219456" cy="219456"/>
          </a:xfrm>
          <a:prstGeom prst="ellipse">
            <a:avLst/>
          </a:prstGeom>
          <a:solidFill>
            <a:srgbClr val="6FA07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801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9CC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CLOSING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10515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claims I can defend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640080" y="2212848"/>
            <a:ext cx="438912" cy="438912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2128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325880" y="210312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Collisions and routing dead ends are eliminated by construction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325880" y="256032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9CC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TDMA slots make overlap structurally impossible; explicit routing tables leave no geometric decision that could stall. Neither is a retry mechanism.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584448"/>
            <a:ext cx="438912" cy="438912"/>
          </a:xfrm>
          <a:prstGeom prst="ellipse">
            <a:avLst/>
          </a:prstGeom>
          <a:solidFill>
            <a:srgbClr val="3E7CB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5844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325880" y="347472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 choice is scale-dependent, and I measured it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325880" y="393192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9CC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techniques at six nodes are the opposite of those at fifty. Building both makes that a finding rather than an assumption.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35040" y="48920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6FA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035040" y="516636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CC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Microcontroller sensor nodes to escape the Pi’s 0.35 W sleep floor  ·  solar harvesting  ·  adaptive frame length  ·  sensor fusion across neighbours  ·  alert integration with forest department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62636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A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github.com/nishankswamy/forest-fire-dashboard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Forest Fire Detection Using a LoRa Wireless Sensor Network</dc:title>
  <dc:subject>PptxGenJS Presentation</dc:subject>
  <dc:creator>Nishank Swamy</dc:creator>
  <cp:lastModifiedBy>Nishank Swamy</cp:lastModifiedBy>
  <cp:revision>1</cp:revision>
  <dcterms:created xsi:type="dcterms:W3CDTF">2026-08-18T20:36:44Z</dcterms:created>
  <dcterms:modified xsi:type="dcterms:W3CDTF">2026-08-18T20:36:44Z</dcterms:modified>
</cp:coreProperties>
</file>